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4" r:id="rId1"/>
  </p:sldMasterIdLst>
  <p:notesMasterIdLst>
    <p:notesMasterId r:id="rId25"/>
  </p:notesMasterIdLst>
  <p:sldIdLst>
    <p:sldId id="256" r:id="rId2"/>
    <p:sldId id="257" r:id="rId3"/>
    <p:sldId id="276" r:id="rId4"/>
    <p:sldId id="280" r:id="rId5"/>
    <p:sldId id="278" r:id="rId6"/>
    <p:sldId id="282" r:id="rId7"/>
    <p:sldId id="284" r:id="rId8"/>
    <p:sldId id="262" r:id="rId9"/>
    <p:sldId id="285" r:id="rId10"/>
    <p:sldId id="287" r:id="rId11"/>
    <p:sldId id="263" r:id="rId12"/>
    <p:sldId id="289" r:id="rId13"/>
    <p:sldId id="288" r:id="rId14"/>
    <p:sldId id="290" r:id="rId15"/>
    <p:sldId id="293" r:id="rId16"/>
    <p:sldId id="297" r:id="rId17"/>
    <p:sldId id="296" r:id="rId18"/>
    <p:sldId id="294" r:id="rId19"/>
    <p:sldId id="269" r:id="rId20"/>
    <p:sldId id="295" r:id="rId21"/>
    <p:sldId id="298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6C6B5-8A2D-4B30-AA4B-A6B4D7D404CC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8BB14-802F-47A2-9D55-6B4DCC92D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388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8BB14-802F-47A2-9D55-6B4DCC92DCF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8950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ED0B2-B629-66F5-5FB5-DA5B3E971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93DAAC-A760-6B33-4E99-9C6D825CE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A81C9-52AD-C05B-1939-3B0BF306F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6721A-A934-4712-B8FB-EDD2E2AC313F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80A04-D9DA-6DBB-417B-51BFD901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8E980-A1E9-7F4D-0926-5EBDD3F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2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7989-EEC9-3194-BE56-2C0ACA74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17B41-4222-0AF3-F1B4-65D445416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1D5D1-B45F-5C09-B55E-A2E266949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100D-DD6B-469B-8CA3-C0C0CD911385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7B4AE-2888-8D51-F152-FC225341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BB460-08F0-916C-488D-0CB4FC95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52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D5217-2D0B-B630-B788-F776B82A3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DAAB0-EF17-9C2D-6A11-1A4297A59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D394E-2C93-2DA3-329B-6DC136EB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61B37-05B2-4C7D-822B-1D96ECF6F568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289E0-71C9-53E4-8D10-A0497AC6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6E78D-B606-DAD6-DBA7-112F4F5C1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62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260A9-8A74-EA68-74EB-B90198A3F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0A126-E22E-2A12-A7C8-6D6BF06CA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FC5F5-089B-DE6F-FA15-449C1EBAA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435E6-71C2-84DA-684E-7D6B85CBE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C5329-2C48-4D44-8D13-83B018236728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7F4B9-046B-558A-09C5-CDBA448A7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E2F89-6D6E-E080-476B-A65DCEDCE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70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CAE16-79DA-D746-B1E0-F1B53695F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F157F-F5A4-820B-A20C-0BECD829B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A39A9-A3A3-B6D5-1B35-91F9E138A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4B79D2-F780-9087-8409-4B7A304FC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B30E19-BA11-7DE2-D048-64F7CEB30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7A4FBF-C3F6-DEA1-0898-ECDFC621A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F30E-9A86-4549-A6D7-1C0E2923343D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0F44E2-629E-BA26-36BD-E8C20C543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01A39-2AE0-7E4A-CE68-D699504A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1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5D95C-BD78-48F0-6442-C28F9B35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F2B5CA-1599-AEA0-44C4-6EAE6E438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F90A3-15D3-4D64-ADA4-DF20315170F1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BC9939-843F-F424-6157-A94D8EAC9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14CDB-DADD-BA08-4B90-164A1514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0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63FED-F875-E7ED-D754-B3B1C3892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4057-8C14-408E-9775-E191CCAD8C31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32DAF1-E326-9151-1D8B-0C9FB3B94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40F33-2F25-091B-6957-7EAD4E228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960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6575-046C-2397-D4A6-A0D0DD91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0D114-C14C-B6A3-FF2A-FA93B1563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90F4F-0DCC-41C6-2FCD-C6DE29E8E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4FD2D-9C3F-2A76-C4BA-56CC0DC98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1145-E541-4DBF-903E-7FC4CA0BEBFD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B34B3-5AF5-4219-7FF1-8EB216D37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FC2B7-FFE9-B335-17EA-0DCA6D43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0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CA729-7817-F7DF-EFDA-CCB5966BE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5701C1-A158-771A-9868-1544A586B4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04005-1C28-9745-2784-9EB9B131A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36D24-E948-62CC-8F3C-1EAD248A1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64A50-F476-4615-8590-5E9C6082377E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68371-4070-387B-A8F3-806A0CB36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7842E-9067-156B-3273-9E72ABC3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45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2949-97BB-B6DA-75AA-E1CCDBB5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A1B64-A23E-BB29-DFA6-08E096C2D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BF970-19E7-BC1B-E802-072534D0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353A-7C02-4FDC-B936-E74CF46CAC5B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88A10-6197-201B-9D12-9A170D44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3C714-C465-2C48-AD16-751BEE663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86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D19BE2-54A6-224A-8691-24ADA6036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9942D-D81E-C233-FA55-F39A9E02F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4B3A4-A962-C6E8-1D49-DEB920147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E0E4-02DD-4CA8-98E2-504B4C4BA102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97C5D-5BC9-19DF-8306-E04673A6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1B815-156B-8772-EBE4-C152623B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1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E39DA4-0EE4-5029-AFB1-B48B1A18F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A9F44-5F72-6ADC-E32D-EF8A53C95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21B40-1E0D-376B-AD33-4A76E177B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776E2E-B7EB-4786-843A-11BEFEE6C78C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64840-2D21-08F8-68E4-963E29FF4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25ETCS115018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018DF-0349-4F19-BAA1-EA4611305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8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052735"/>
            <a:ext cx="6858000" cy="1457228"/>
          </a:xfrm>
        </p:spPr>
        <p:txBody>
          <a:bodyPr>
            <a:norm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Air Pollution Hotspots identification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284623"/>
            <a:ext cx="6858000" cy="1655762"/>
          </a:xfrm>
        </p:spPr>
        <p:txBody>
          <a:bodyPr>
            <a:normAutofit/>
          </a:bodyPr>
          <a:lstStyle/>
          <a:p>
            <a:r>
              <a:rPr lang="en-US" b="1" i="1" dirty="0"/>
              <a:t>Vatsal Vaghasiya</a:t>
            </a:r>
          </a:p>
          <a:p>
            <a:r>
              <a:rPr lang="en-US" b="1" i="1" dirty="0"/>
              <a:t>25ETCS115018</a:t>
            </a:r>
          </a:p>
          <a:p>
            <a:r>
              <a:rPr lang="en-US" b="1" i="1" dirty="0"/>
              <a:t>25ETCS115018@msruas.ac.in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5AA63-3779-D54F-550B-83A6FD174107}"/>
              </a:ext>
            </a:extLst>
          </p:cNvPr>
          <p:cNvSpPr txBox="1"/>
          <p:nvPr/>
        </p:nvSpPr>
        <p:spPr>
          <a:xfrm>
            <a:off x="996960" y="596165"/>
            <a:ext cx="7323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Course Title: Data Mining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F79BE73-DCF8-46BE-E32E-85A358608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7356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3600" b="1">
                <a:solidFill>
                  <a:srgbClr val="003366"/>
                </a:solidFill>
              </a:defRPr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AIM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EEBF4B3-89E9-91A3-D01D-B4844E104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38687"/>
            <a:ext cx="7886700" cy="97355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  <a:defRPr sz="1600"/>
            </a:pPr>
            <a:r>
              <a:rPr lang="en-US" sz="1800" dirty="0"/>
              <a:t>To identify air pollution hotspots in Bangalore using machine learning clustering techniques on CPCB monitoring data.</a:t>
            </a:r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A64F9-DAA1-2133-E399-02927B7B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D3693E7-6543-BB59-0FE0-9F00B093CD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55"/>
          <a:stretch>
            <a:fillRect/>
          </a:stretch>
        </p:blipFill>
        <p:spPr>
          <a:xfrm>
            <a:off x="327991" y="2312246"/>
            <a:ext cx="8418444" cy="404112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38A302-A0C4-7EA9-105A-107B95093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196F76-6976-E19A-9CEE-3454D536FC97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F5299-9719-A63D-781F-8AAAAE44F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544B61E-7057-B988-0C59-8540154C3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defTabSz="9144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003366"/>
                </a:solidFill>
              </a:defRPr>
            </a:pPr>
            <a:r>
              <a:rPr lang="en-GB" sz="3600" b="1" dirty="0"/>
              <a:t>OBJECTIVES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57DD1E4-C5D1-CF58-8A4C-7C4077951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1800" b="1" dirty="0"/>
              <a:t>To Design </a:t>
            </a:r>
            <a:r>
              <a:rPr lang="en-GB" sz="1800" dirty="0"/>
              <a:t>a data preprocessing pipeline for multi-pollutant sensor data normalization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1800" b="1" dirty="0"/>
              <a:t>To Implement </a:t>
            </a:r>
            <a:r>
              <a:rPr lang="en-GB" sz="1800" dirty="0"/>
              <a:t>data normalization techniques (Min-Max/Standard Scaler) for sensor readings.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 </a:t>
            </a:r>
            <a:r>
              <a:rPr lang="en-GB" sz="1800" b="1" dirty="0"/>
              <a:t>To Test </a:t>
            </a:r>
            <a:r>
              <a:rPr lang="en-GB" sz="1800" dirty="0"/>
              <a:t>three clustering models: K-Means, DBSCAN, and Hierarchical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 </a:t>
            </a:r>
            <a:r>
              <a:rPr lang="en-GB" sz="1800" b="1" dirty="0"/>
              <a:t>To Evaluate </a:t>
            </a:r>
            <a:r>
              <a:rPr lang="en-GB" sz="1800" dirty="0"/>
              <a:t>spatial distribution of clusters across Bangalore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 </a:t>
            </a:r>
            <a:r>
              <a:rPr lang="en-GB" sz="1800" b="1" dirty="0"/>
              <a:t>To show</a:t>
            </a:r>
            <a:r>
              <a:rPr lang="en-GB" sz="1800" dirty="0"/>
              <a:t> spatial visualization of pollution hotspots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26ABD2-9AA1-85E7-F981-E9690AD6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F0111C-C39C-17CC-09D0-4DC7CE18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763656-BAD4-EF28-D236-1568C423958A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73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8BC66-4846-46FE-E13B-DD647ACE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5EEDE-3133-6088-E187-27CB516A5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GB" dirty="0"/>
              <a:t>Methodology Pipeline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F5343B-6824-5464-A151-5DDFC9E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BD8AC-4FEC-1138-5341-C9B5E8A6C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CFFE21-8D53-AC5B-36A8-C77294B5DB3B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A553D75A-3F50-1359-35EE-A180AE9BC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1371" b="7510"/>
          <a:stretch>
            <a:fillRect/>
          </a:stretch>
        </p:blipFill>
        <p:spPr>
          <a:xfrm>
            <a:off x="1093891" y="1848464"/>
            <a:ext cx="6956218" cy="3746091"/>
          </a:xfrm>
        </p:spPr>
      </p:pic>
    </p:spTree>
    <p:extLst>
      <p:ext uri="{BB962C8B-B14F-4D97-AF65-F5344CB8AC3E}">
        <p14:creationId xmlns:p14="http://schemas.microsoft.com/office/powerpoint/2010/main" val="3830583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E6FB5-72AD-2B65-43DB-622F004A8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DD355-9284-16AB-1A65-B2A8FF21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GB" sz="3600" b="1" dirty="0">
                <a:solidFill>
                  <a:srgbClr val="003366"/>
                </a:solidFill>
                <a:latin typeface="Aptos" panose="02110004020202020204"/>
              </a:rPr>
              <a:t>Dataset 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623F0-5AA6-CAAC-8C58-EB4D4C0BB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800" dirty="0"/>
          </a:p>
          <a:p>
            <a:pPr>
              <a:spcAft>
                <a:spcPts val="800"/>
              </a:spcAft>
              <a:defRPr sz="1600"/>
            </a:pPr>
            <a:r>
              <a:rPr lang="en-US" sz="1800" b="1" dirty="0"/>
              <a:t>Source:</a:t>
            </a:r>
            <a:r>
              <a:rPr lang="en-US" sz="1800" dirty="0"/>
              <a:t> Central Pollution Control Board (CPCB), Government of India</a:t>
            </a:r>
          </a:p>
          <a:p>
            <a:pPr>
              <a:spcAft>
                <a:spcPts val="800"/>
              </a:spcAft>
              <a:defRPr sz="1600"/>
            </a:pPr>
            <a:r>
              <a:rPr lang="en-US" sz="1800" b="1" dirty="0"/>
              <a:t>Pollutants:</a:t>
            </a:r>
            <a:r>
              <a:rPr lang="en-US" sz="1800" dirty="0"/>
              <a:t> PM2.5, PM10, NO2, SO2, CO, Ozone (O3)</a:t>
            </a:r>
          </a:p>
          <a:p>
            <a:pPr>
              <a:spcAft>
                <a:spcPts val="800"/>
              </a:spcAft>
              <a:defRPr sz="1600"/>
            </a:pPr>
            <a:r>
              <a:rPr lang="en-US" sz="1800" b="1" dirty="0"/>
              <a:t>Coverage:</a:t>
            </a:r>
            <a:r>
              <a:rPr lang="en-US" sz="1800" dirty="0"/>
              <a:t> 14 monitoring stations across Bangalore</a:t>
            </a:r>
          </a:p>
          <a:p>
            <a:pPr>
              <a:spcAft>
                <a:spcPts val="800"/>
              </a:spcAft>
              <a:defRPr sz="1600"/>
            </a:pPr>
            <a:r>
              <a:rPr lang="en-US" sz="1800" b="1" dirty="0"/>
              <a:t>Period:</a:t>
            </a:r>
            <a:r>
              <a:rPr lang="en-US" sz="1800" dirty="0"/>
              <a:t> Daily AQI readings for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863E4-E5E3-7492-EA1C-0E46E24A8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5" name="Content Placeholder 3" descr="sample_data_table.png">
            <a:extLst>
              <a:ext uri="{FF2B5EF4-FFF2-40B4-BE49-F238E27FC236}">
                <a16:creationId xmlns:a16="http://schemas.microsoft.com/office/drawing/2014/main" id="{4F282F5A-1F10-A0AB-CC7E-7CD6B5F847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05" t="28123" r="5360" b="20143"/>
          <a:stretch>
            <a:fillRect/>
          </a:stretch>
        </p:blipFill>
        <p:spPr>
          <a:xfrm>
            <a:off x="628650" y="4169501"/>
            <a:ext cx="7886700" cy="209715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633D5-6E54-2B94-E4EB-3C008B15F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8D641-B947-B9CF-505E-DEDE430DEE82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978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0392-A82A-F058-CD87-EE72EEED4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E785-EFD5-BFB6-B72E-6AC2698E1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GB" sz="3600" b="1" dirty="0">
                <a:solidFill>
                  <a:srgbClr val="003366"/>
                </a:solidFill>
                <a:latin typeface="Aptos" panose="02110004020202020204"/>
              </a:rPr>
              <a:t>Data Preprocessing &amp; Normalization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4294BB-B480-E610-18C0-45A9C98B1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Normalization is Critical: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Different pollutants have vastly different measurement scales:</a:t>
            </a:r>
          </a:p>
          <a:p>
            <a:r>
              <a:rPr lang="en-US" b="1" dirty="0"/>
              <a:t>PM2.5: </a:t>
            </a:r>
            <a:r>
              <a:rPr lang="en-US" dirty="0"/>
              <a:t>0-500 </a:t>
            </a:r>
            <a:r>
              <a:rPr lang="en-US" dirty="0" err="1"/>
              <a:t>μg</a:t>
            </a:r>
            <a:r>
              <a:rPr lang="en-US" dirty="0"/>
              <a:t>/m³</a:t>
            </a:r>
          </a:p>
          <a:p>
            <a:r>
              <a:rPr lang="en-US" b="1" dirty="0"/>
              <a:t>CO:</a:t>
            </a:r>
            <a:r>
              <a:rPr lang="en-US" dirty="0"/>
              <a:t> 0-10 mg/m³</a:t>
            </a:r>
          </a:p>
          <a:p>
            <a:r>
              <a:rPr lang="en-US" b="1" dirty="0"/>
              <a:t>NO2:</a:t>
            </a:r>
            <a:r>
              <a:rPr lang="en-US" dirty="0"/>
              <a:t> 0-200 </a:t>
            </a:r>
            <a:r>
              <a:rPr lang="en-US" dirty="0" err="1"/>
              <a:t>μg</a:t>
            </a:r>
            <a:r>
              <a:rPr lang="en-US" dirty="0"/>
              <a:t>/m³</a:t>
            </a:r>
          </a:p>
          <a:p>
            <a:pPr marL="0" indent="0">
              <a:buNone/>
            </a:pPr>
            <a:r>
              <a:rPr lang="en-US" dirty="0"/>
              <a:t>Without normalization, clustering algorithms would be biased toward pollutants with larger numerical ranges.</a:t>
            </a:r>
          </a:p>
          <a:p>
            <a:pPr marL="0" indent="0">
              <a:buNone/>
            </a:pPr>
            <a:r>
              <a:rPr lang="en-GB" b="1" dirty="0"/>
              <a:t>Technique Applied: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- Standard Scalar </a:t>
            </a:r>
            <a:r>
              <a:rPr lang="en-GB" dirty="0"/>
              <a:t>(Z-score normalization)</a:t>
            </a:r>
          </a:p>
          <a:p>
            <a:pPr marL="0" indent="0">
              <a:buNone/>
            </a:pPr>
            <a:r>
              <a:rPr lang="en-GB" b="1" dirty="0"/>
              <a:t>Result: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All features on comparable scale for fair clustering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3AB0CF-4C64-11B2-2B7D-FFCAA5FB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50C913-EB65-7CB9-693C-27FED0232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7D2CCA-AAE8-24B5-13F1-85877BBE0D08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687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D042-7617-BBE5-8CF5-37A9C08BF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31891-DA49-642F-4C4B-8D8E060A1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GB" sz="3600" b="1" dirty="0">
                <a:solidFill>
                  <a:srgbClr val="003366"/>
                </a:solidFill>
                <a:latin typeface="Aptos" panose="02110004020202020204"/>
              </a:rPr>
              <a:t>Data Preprocessing &amp; Normalization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2858CE-3501-CD33-4FE0-F1B0F45C1D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12"/>
          <a:stretch>
            <a:fillRect/>
          </a:stretch>
        </p:blipFill>
        <p:spPr>
          <a:xfrm>
            <a:off x="327991" y="1791173"/>
            <a:ext cx="8418444" cy="454378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929411-D722-0D70-D9CF-DF07108D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0946B-8428-6BE9-35A9-50422652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BE8784-BE55-A62F-5EFC-AA90F02C2A30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20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dirty="0"/>
              <a:t>Clustering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Three Models Implemented: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1. K-Means Clustering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Type:</a:t>
            </a:r>
            <a:r>
              <a:rPr lang="en-US" dirty="0"/>
              <a:t> Partitioning-based</a:t>
            </a:r>
          </a:p>
          <a:p>
            <a:pPr marL="0" indent="0">
              <a:buNone/>
            </a:pPr>
            <a:r>
              <a:rPr lang="en-US" b="1" dirty="0"/>
              <a:t>How it works:</a:t>
            </a:r>
            <a:r>
              <a:rPr lang="en-US" dirty="0"/>
              <a:t> Divides data into K clusters by minimizing within-cluster variance</a:t>
            </a:r>
          </a:p>
          <a:p>
            <a:pPr marL="0" indent="0">
              <a:buNone/>
            </a:pPr>
            <a:r>
              <a:rPr lang="en-US" b="1" dirty="0"/>
              <a:t>Use case:</a:t>
            </a:r>
            <a:r>
              <a:rPr lang="en-US" dirty="0"/>
              <a:t> When cluster count is known and data is well-separated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2. DBSCAN </a:t>
            </a:r>
            <a:r>
              <a:rPr lang="en-US" sz="1500" b="1" dirty="0"/>
              <a:t>(Density-Based Spatial Clustering of Applications with Noise)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Type:</a:t>
            </a:r>
            <a:r>
              <a:rPr lang="en-US" dirty="0"/>
              <a:t> Density-based</a:t>
            </a:r>
          </a:p>
          <a:p>
            <a:pPr marL="0" indent="0">
              <a:buNone/>
            </a:pPr>
            <a:r>
              <a:rPr lang="en-US" b="1" dirty="0"/>
              <a:t>How it works:</a:t>
            </a:r>
            <a:r>
              <a:rPr lang="en-US" dirty="0"/>
              <a:t> Groups points in high-density regions, marks low-density points as outliers</a:t>
            </a:r>
          </a:p>
          <a:p>
            <a:pPr marL="0" indent="0">
              <a:buNone/>
            </a:pPr>
            <a:r>
              <a:rPr lang="en-US" b="1" dirty="0"/>
              <a:t>Use case:</a:t>
            </a:r>
            <a:r>
              <a:rPr lang="en-US" dirty="0"/>
              <a:t> When outlier detection is important and cluster shapes vary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112C9-95C1-A894-52DC-DCBE55B2A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01CF0-4FD4-D608-C528-0DC46B02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9C80D5-38CF-D864-B672-E64FB6991CA9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0E9D7-6681-93C7-BCD3-066904CD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D2005-DC3E-6F75-5C28-196376995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dirty="0"/>
              <a:t>Clustering 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B2649-3C6D-DD04-37A8-70E4A8227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900" b="1" dirty="0"/>
              <a:t>3. Hierarchical Clustering </a:t>
            </a:r>
          </a:p>
          <a:p>
            <a:pPr marL="0" indent="0">
              <a:buNone/>
            </a:pPr>
            <a:r>
              <a:rPr lang="en-GB" sz="1900" b="1" dirty="0"/>
              <a:t>Type:</a:t>
            </a:r>
            <a:r>
              <a:rPr lang="en-GB" sz="1900" dirty="0"/>
              <a:t> Hierarchical</a:t>
            </a:r>
          </a:p>
          <a:p>
            <a:pPr marL="0" indent="0">
              <a:buNone/>
            </a:pPr>
            <a:r>
              <a:rPr lang="en-GB" sz="1900" b="1" dirty="0"/>
              <a:t>How it works:</a:t>
            </a:r>
            <a:r>
              <a:rPr lang="en-GB" sz="1900" dirty="0"/>
              <a:t> Builds a tree of clusters from bottom-up, merging similar clusters</a:t>
            </a:r>
          </a:p>
          <a:p>
            <a:pPr marL="0" indent="0">
              <a:buNone/>
            </a:pPr>
            <a:r>
              <a:rPr lang="en-GB" sz="1900" b="1" dirty="0"/>
              <a:t>Use case:</a:t>
            </a:r>
            <a:r>
              <a:rPr lang="en-GB" sz="1900" dirty="0"/>
              <a:t> When understanding cluster hierarchy matters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2F7FC-EDD6-B584-E9D2-CBC213B6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74FE2-C8CA-138E-B58E-43C00AE0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0165F4-322E-7FD5-6F7F-4D67987395B5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047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89FA0-E536-0259-3C9A-A884CAF8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8804-B7D1-2A36-FE1B-465D6720B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GB" dirty="0"/>
              <a:t>PCA projection of Clusters</a:t>
            </a:r>
            <a:endParaRPr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8797A6-FACD-5C70-7E5C-D80619338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991" y="2444620"/>
            <a:ext cx="8418444" cy="2995557"/>
          </a:xfr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9FCFDE-D2B3-B8DF-431A-1221DB850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5FC4A9-4C8C-7787-0985-A2E57DE47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5FA726-0B04-F662-BA05-77C6A9147938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852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GB" sz="3600" b="1" dirty="0"/>
              <a:t>DETERMINING OPTIMAL CLUSTERS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Challenge:</a:t>
            </a:r>
            <a:r>
              <a:rPr lang="en-US" sz="1800" dirty="0"/>
              <a:t> How many clusters should we create?</a:t>
            </a:r>
          </a:p>
          <a:p>
            <a:pPr marL="0" indent="0">
              <a:buNone/>
            </a:pPr>
            <a:r>
              <a:rPr lang="en-US" sz="1800" b="1" dirty="0"/>
              <a:t>Methods Used: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1. Elbow Method</a:t>
            </a:r>
            <a:endParaRPr lang="en-US" sz="1800" dirty="0"/>
          </a:p>
          <a:p>
            <a:r>
              <a:rPr lang="en-US" sz="1800" dirty="0"/>
              <a:t>Plot inertia (within-cluster sum of squares) vs. number of clusters</a:t>
            </a:r>
          </a:p>
          <a:p>
            <a:r>
              <a:rPr lang="en-US" sz="1800" dirty="0"/>
              <a:t>Look for the "elbow point" where improvement gets stable.</a:t>
            </a:r>
          </a:p>
          <a:p>
            <a:pPr marL="0" indent="0">
              <a:buNone/>
            </a:pPr>
            <a:r>
              <a:rPr lang="en-US" sz="1800" b="1" dirty="0"/>
              <a:t>2. Silhouette Analysis</a:t>
            </a:r>
            <a:endParaRPr lang="en-US" sz="1800" dirty="0"/>
          </a:p>
          <a:p>
            <a:r>
              <a:rPr lang="en-US" sz="1800" dirty="0"/>
              <a:t>Calculate silhouette score for K = 2 to 10</a:t>
            </a:r>
          </a:p>
          <a:p>
            <a:r>
              <a:rPr lang="en-US" sz="1800" dirty="0"/>
              <a:t>Higher score means better-defined clusters</a:t>
            </a:r>
          </a:p>
          <a:p>
            <a:r>
              <a:rPr lang="en-US" sz="1800" dirty="0"/>
              <a:t>Choose K that maximizes average silhouette score</a:t>
            </a:r>
          </a:p>
          <a:p>
            <a:pPr marL="0" indent="0">
              <a:buNone/>
            </a:pPr>
            <a:r>
              <a:rPr lang="en-US" sz="1800" b="1" dirty="0"/>
              <a:t>3. Domain Knowledge</a:t>
            </a:r>
            <a:endParaRPr lang="en-US" sz="1800" dirty="0"/>
          </a:p>
          <a:p>
            <a:r>
              <a:rPr lang="en-US" sz="1800" dirty="0"/>
              <a:t>Air quality typically categorized as: Good, Moderate, Poor, Severe</a:t>
            </a:r>
          </a:p>
          <a:p>
            <a:r>
              <a:rPr lang="en-US" sz="1800" dirty="0"/>
              <a:t>Suggests 3-4 natural groupings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1B61A-38EF-962C-9075-36A67AB0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C260E-B45C-7799-0A7F-1C3C12FF1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0C15DE-DB6B-4D27-1BDA-79ABE9A72B82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3189D-4B2E-E4FE-CF79-BE718774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3F4ED-6E98-1FD8-06AB-630ACB9C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GB" sz="3600" b="1" dirty="0"/>
              <a:t>DETERMINING OPTIMAL CLUSTERS</a:t>
            </a:r>
            <a:endParaRPr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B64B17-C0F6-82C4-6E0C-CA8F66FF6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358"/>
          <a:stretch>
            <a:fillRect/>
          </a:stretch>
        </p:blipFill>
        <p:spPr>
          <a:xfrm>
            <a:off x="327991" y="1823720"/>
            <a:ext cx="8418444" cy="345440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DEFE00-6BF8-805A-0445-2A76F7264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916502-2D3E-D01A-CD39-BD35B1CA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AE07B3-533D-4969-079B-A8933428916E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361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CCC4E-95D6-F565-5B0F-524FE1D2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0F2D6-0CA8-5D80-7655-8B9E475C7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GB" sz="3600" b="1" dirty="0"/>
              <a:t>DETERMINING OPTIMAL CLUSTERS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1B122-B3CC-EDF5-6F35-ECBDF5CD2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dirty="0"/>
              <a:t>Based on elbow method and silhouette analysis, </a:t>
            </a:r>
            <a:r>
              <a:rPr lang="en-GB" sz="1800" b="1" dirty="0"/>
              <a:t>K = 4 clusters</a:t>
            </a:r>
            <a:r>
              <a:rPr lang="en-GB" sz="1800" dirty="0"/>
              <a:t> was selected:</a:t>
            </a:r>
          </a:p>
          <a:p>
            <a:pPr>
              <a:lnSpc>
                <a:spcPct val="150000"/>
              </a:lnSpc>
            </a:pPr>
            <a:r>
              <a:rPr lang="en-GB" sz="1800" b="1" dirty="0"/>
              <a:t>Cluster 0:</a:t>
            </a:r>
            <a:r>
              <a:rPr lang="en-GB" sz="1800" dirty="0"/>
              <a:t> Low pollution zones</a:t>
            </a:r>
          </a:p>
          <a:p>
            <a:pPr>
              <a:lnSpc>
                <a:spcPct val="150000"/>
              </a:lnSpc>
            </a:pPr>
            <a:r>
              <a:rPr lang="en-GB" sz="1800" b="1" dirty="0"/>
              <a:t>Cluster 1: </a:t>
            </a:r>
            <a:r>
              <a:rPr lang="en-GB" sz="1800" dirty="0"/>
              <a:t>Moderate pollution areas</a:t>
            </a:r>
          </a:p>
          <a:p>
            <a:pPr>
              <a:lnSpc>
                <a:spcPct val="150000"/>
              </a:lnSpc>
            </a:pPr>
            <a:r>
              <a:rPr lang="en-GB" sz="1800" b="1" dirty="0"/>
              <a:t>Cluster 2: </a:t>
            </a:r>
            <a:r>
              <a:rPr lang="en-GB" sz="1800" dirty="0"/>
              <a:t>High pollution hotspots</a:t>
            </a:r>
          </a:p>
          <a:p>
            <a:pPr>
              <a:lnSpc>
                <a:spcPct val="150000"/>
              </a:lnSpc>
            </a:pPr>
            <a:r>
              <a:rPr lang="en-GB" sz="1800" b="1" dirty="0"/>
              <a:t>Cluster 3: </a:t>
            </a:r>
            <a:r>
              <a:rPr lang="en-GB" sz="1800" dirty="0"/>
              <a:t>Industrial/traffic-influenced zones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36483-BAFD-A790-3AD3-4975BCC30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F86C9-41FF-A125-2241-4ECF9F001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11079-069D-E543-4BC7-7673626AE87E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917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D17AF-E8A1-0A29-EEDF-462C3BF5C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2CD2537-B530-F382-F3EC-EB56B054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GB" sz="3600" b="1" dirty="0"/>
              <a:t>MODEL PERFORMANCE COMPARISON</a:t>
            </a:r>
            <a:endParaRPr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E025BB6F-A63E-4DD0-B7FB-5E9578159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0106"/>
          <a:stretch>
            <a:fillRect/>
          </a:stretch>
        </p:blipFill>
        <p:spPr>
          <a:xfrm>
            <a:off x="327991" y="1863434"/>
            <a:ext cx="8418444" cy="2503191"/>
          </a:xfr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9481B9D-5F4F-D87D-2660-08C7A172C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50682"/>
              </p:ext>
            </p:extLst>
          </p:nvPr>
        </p:nvGraphicFramePr>
        <p:xfrm>
          <a:off x="593863" y="4539370"/>
          <a:ext cx="7886700" cy="1805940"/>
        </p:xfrm>
        <a:graphic>
          <a:graphicData uri="http://schemas.openxmlformats.org/drawingml/2006/table">
            <a:tbl>
              <a:tblPr/>
              <a:tblGrid>
                <a:gridCol w="1577340">
                  <a:extLst>
                    <a:ext uri="{9D8B030D-6E8A-4147-A177-3AD203B41FA5}">
                      <a16:colId xmlns:a16="http://schemas.microsoft.com/office/drawing/2014/main" val="65534222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04420923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417170305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249694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2221846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Metric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K-Means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DBSCAN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Hierarchical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Interpretation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47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Silhouette Score</a:t>
                      </a:r>
                      <a:r>
                        <a:rPr lang="en-GB" dirty="0"/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0.384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highlight>
                            <a:srgbClr val="FFFF00"/>
                          </a:highlight>
                        </a:rPr>
                        <a:t>0.475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0.434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Higher is better (max 1.0)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421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Davies-Bouldin Index</a:t>
                      </a:r>
                      <a:r>
                        <a:rPr lang="en-GB" dirty="0"/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0.812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highlight>
                            <a:srgbClr val="FFFF00"/>
                          </a:highlight>
                        </a:rPr>
                        <a:t>0.597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0.864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Lower is better (min 0.0)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048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 err="1"/>
                        <a:t>Calinski-Harabasz</a:t>
                      </a:r>
                      <a:r>
                        <a:rPr lang="en-GB" b="1" dirty="0"/>
                        <a:t> Index</a:t>
                      </a:r>
                      <a:r>
                        <a:rPr lang="en-GB" dirty="0"/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11.9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7.5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highlight>
                            <a:srgbClr val="FFFF00"/>
                          </a:highlight>
                        </a:rPr>
                        <a:t>13.3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Higher is better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73759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B8E73B-9E91-E9A1-4AEE-98AC5A2B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98DA09-7759-23EB-A9A3-DE68024D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603A08-459D-4590-0544-675BBA4D1127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35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59E44-53F4-A088-54EE-5F95CF94C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6AA8-2AF9-BBD2-B0D4-8669F622F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GB" sz="3600" b="1" dirty="0"/>
              <a:t>MODEL PERFORMANCE COMPARISON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7B4C4F-A472-F3AF-015A-71939B8C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E1D645-9B4D-30FC-084C-14A608561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Key Findings: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DBSCAN</a:t>
            </a:r>
            <a:r>
              <a:rPr lang="en-GB" dirty="0"/>
              <a:t> achieved the best overall performance: 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Highest Silhouette Score (0.475) indicating better-defined clusters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Lowest Davies-Bouldin Index (0.597) showing superior cluster separation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Effective at detecting outlier stations and arbitrary-shaped clusters</a:t>
            </a:r>
          </a:p>
          <a:p>
            <a:pPr>
              <a:lnSpc>
                <a:spcPct val="150000"/>
              </a:lnSpc>
            </a:pPr>
            <a:r>
              <a:rPr lang="en-GB" b="1" dirty="0"/>
              <a:t>Hierarchical Clustering</a:t>
            </a:r>
            <a:r>
              <a:rPr lang="en-GB" dirty="0"/>
              <a:t> showed highest Calinski-Harabasz Index (13.3), indicating strong inter-cluster separation</a:t>
            </a:r>
          </a:p>
          <a:p>
            <a:pPr>
              <a:lnSpc>
                <a:spcPct val="150000"/>
              </a:lnSpc>
            </a:pPr>
            <a:r>
              <a:rPr lang="en-GB" b="1" dirty="0"/>
              <a:t>K-Means</a:t>
            </a:r>
            <a:r>
              <a:rPr lang="en-GB" dirty="0"/>
              <a:t> provided interpretable results with good balance across metrics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96A03-355E-6811-7ECC-56CCC7E9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5FC049-5583-C56D-00FD-E8050AB1A68B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918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89A4F-C316-918D-97A7-07E00184C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4725-0EA7-0830-FA8B-CD21288F5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GB" dirty="0"/>
              <a:t>Temporal Patterns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A46FE42-C150-7A7B-A230-F4F0C6CFB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547" b="2686"/>
          <a:stretch>
            <a:fillRect/>
          </a:stretch>
        </p:blipFill>
        <p:spPr>
          <a:xfrm>
            <a:off x="397565" y="1380932"/>
            <a:ext cx="8348870" cy="461029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D7D3C6-5314-E6EE-D2B7-80EE0442F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A34DF-8641-59CF-E0F1-F9A62FAAE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D63BA7-DE5C-E4E8-0301-C34E1605AA2B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400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6CD34-6EE7-C518-88CD-C81CC9E1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992E6-F471-CE7F-DC64-0E1616EF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GB" dirty="0"/>
              <a:t>Temporal Patterns (Heat map)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0F4C3A-72AC-6FC6-0226-A6B95EB29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27990" y="1325564"/>
            <a:ext cx="8418445" cy="5030788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C47F14-45DB-BF18-FB0A-E9B3821B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0F017-052E-1522-13DB-104409DB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5A95D6-D423-E2A7-A596-3CF901BAFC1E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783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3410E-96E4-53DF-B5C4-D8284370E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D1154-25DC-19CC-EE79-97F17EEF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GB" dirty="0"/>
              <a:t>Spatial Distribution of Clusters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rcRect t="8672" b="8672"/>
          <a:stretch/>
        </p:blipFill>
        <p:spPr>
          <a:xfrm>
            <a:off x="816077" y="1526602"/>
            <a:ext cx="7511845" cy="482975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400D79-25EC-E493-EE0E-956042AD1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1215B3-4433-E8D2-E0C9-94CBCAAE0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D9FCA2-2666-FDD1-D90A-5758B1E0A1CA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540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dirty="0"/>
              <a:t>Key Insights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Aft>
                <a:spcPts val="1200"/>
              </a:spcAft>
              <a:buNone/>
              <a:defRPr sz="1800"/>
            </a:pPr>
            <a:r>
              <a:rPr sz="1800" dirty="0"/>
              <a:t>1. </a:t>
            </a:r>
            <a:r>
              <a:rPr sz="1800" b="1" dirty="0"/>
              <a:t>Clear Pollution Hotspots Identified</a:t>
            </a:r>
          </a:p>
          <a:p>
            <a:pPr marL="342900" lvl="1" indent="0">
              <a:spcAft>
                <a:spcPts val="1200"/>
              </a:spcAft>
              <a:buNone/>
              <a:defRPr sz="1800"/>
            </a:pPr>
            <a:r>
              <a:rPr dirty="0"/>
              <a:t>  - Successfully identified distinct pollution hotspots in Bangalore</a:t>
            </a:r>
          </a:p>
          <a:p>
            <a:pPr marL="342900" lvl="1" indent="0">
              <a:spcAft>
                <a:spcPts val="1200"/>
              </a:spcAft>
              <a:buNone/>
              <a:defRPr sz="1800"/>
            </a:pPr>
            <a:r>
              <a:rPr dirty="0"/>
              <a:t>  - 2 stations (K-Means) to 8 stations (DBSCAN) show poor air quality</a:t>
            </a:r>
            <a:endParaRPr sz="1800" dirty="0"/>
          </a:p>
          <a:p>
            <a:pPr marL="0" indent="0">
              <a:spcAft>
                <a:spcPts val="1200"/>
              </a:spcAft>
              <a:buNone/>
              <a:defRPr sz="1800"/>
            </a:pPr>
            <a:endParaRPr lang="en-GB" sz="1800" dirty="0"/>
          </a:p>
          <a:p>
            <a:pPr marL="0" indent="0">
              <a:spcAft>
                <a:spcPts val="1200"/>
              </a:spcAft>
              <a:buNone/>
              <a:defRPr sz="1800"/>
            </a:pPr>
            <a:r>
              <a:rPr sz="1800" dirty="0"/>
              <a:t>2. </a:t>
            </a:r>
            <a:r>
              <a:rPr sz="1800" b="1" dirty="0"/>
              <a:t>Traffic &amp; Industrial Influence</a:t>
            </a:r>
          </a:p>
          <a:p>
            <a:pPr marL="342900" lvl="1" indent="0">
              <a:spcAft>
                <a:spcPts val="1200"/>
              </a:spcAft>
              <a:buNone/>
              <a:defRPr sz="1800"/>
            </a:pPr>
            <a:r>
              <a:rPr dirty="0"/>
              <a:t>  - High pollution clusters correlate with heavy traffic zones</a:t>
            </a:r>
          </a:p>
          <a:p>
            <a:pPr marL="342900" lvl="1" indent="0">
              <a:spcAft>
                <a:spcPts val="1200"/>
              </a:spcAft>
              <a:buNone/>
              <a:defRPr sz="1800"/>
            </a:pPr>
            <a:r>
              <a:rPr dirty="0"/>
              <a:t>  - Silk Board: Major traffic intersection</a:t>
            </a:r>
          </a:p>
          <a:p>
            <a:pPr marL="342900" lvl="1" indent="0">
              <a:spcAft>
                <a:spcPts val="1200"/>
              </a:spcAft>
              <a:buNone/>
              <a:defRPr sz="1800"/>
            </a:pPr>
            <a:r>
              <a:rPr dirty="0"/>
              <a:t>  - RVCE-</a:t>
            </a:r>
            <a:r>
              <a:rPr dirty="0" err="1"/>
              <a:t>Mailasandra</a:t>
            </a:r>
            <a:r>
              <a:rPr dirty="0"/>
              <a:t>: Possible industrial emissions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706F2-D37B-5837-0283-A8612C11F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29CDD-3588-D855-7C3C-5ED530FD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1C2DD1-BB6F-3A62-2FE8-A2A3F12C170A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757DF-1A2A-331D-CEE6-64DE7371E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B4112-6CDD-85CC-441A-FE9201353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dirty="0"/>
              <a:t>Key Insights &amp;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F7D0C-C51E-04C2-27F9-6DD130A20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Aft>
                <a:spcPts val="1200"/>
              </a:spcAft>
              <a:buNone/>
              <a:defRPr sz="1800"/>
            </a:pPr>
            <a:r>
              <a:rPr lang="en-GB" dirty="0"/>
              <a:t>3. </a:t>
            </a:r>
            <a:r>
              <a:rPr lang="en-GB" b="1" dirty="0"/>
              <a:t>Model Performance</a:t>
            </a:r>
          </a:p>
          <a:p>
            <a:pPr marL="342900" lvl="1" indent="0">
              <a:spcAft>
                <a:spcPts val="1200"/>
              </a:spcAft>
              <a:buNone/>
              <a:defRPr sz="1800"/>
            </a:pPr>
            <a:r>
              <a:rPr lang="en-GB" dirty="0"/>
              <a:t>  - DBSCAN emerged as most effective for anomaly detection, but could not make clusters properly. </a:t>
            </a:r>
          </a:p>
          <a:p>
            <a:pPr marL="342900" lvl="1" indent="0">
              <a:spcAft>
                <a:spcPts val="1200"/>
              </a:spcAft>
              <a:buNone/>
              <a:defRPr sz="1800"/>
            </a:pPr>
            <a:r>
              <a:rPr lang="en-GB" dirty="0"/>
              <a:t>  - K-Means provided interpretable cluster separation</a:t>
            </a:r>
          </a:p>
          <a:p>
            <a:pPr marL="0" indent="0">
              <a:spcAft>
                <a:spcPts val="1200"/>
              </a:spcAft>
              <a:buNone/>
              <a:defRPr sz="1800"/>
            </a:pPr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F913A-6877-E5D2-2F3D-7F573CC10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68C24-4B0E-882B-056D-C65E53D8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B19092-968B-E844-B668-E8AD9AEF88B6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344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E721A-482B-1C2C-ED5C-1F72DA73B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9980-2F50-E568-CCB9-F73117B8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GB" dirty="0"/>
              <a:t>Limitations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EFBEF-A78D-430C-D1CF-858760820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>
              <a:lnSpc>
                <a:spcPct val="150000"/>
              </a:lnSpc>
              <a:spcAft>
                <a:spcPts val="1200"/>
              </a:spcAft>
              <a:defRPr sz="1800"/>
            </a:pPr>
            <a:r>
              <a:rPr lang="en-US" dirty="0"/>
              <a:t>Does not include meteorological factors (wind, temperature, humidity) </a:t>
            </a:r>
          </a:p>
          <a:p>
            <a:pPr lvl="1">
              <a:lnSpc>
                <a:spcPct val="150000"/>
              </a:lnSpc>
              <a:spcAft>
                <a:spcPts val="1200"/>
              </a:spcAft>
              <a:defRPr sz="1800"/>
            </a:pPr>
            <a:r>
              <a:rPr lang="en-US" dirty="0"/>
              <a:t>The sensors are not available in every location to retrieve the data</a:t>
            </a:r>
          </a:p>
          <a:p>
            <a:pPr lvl="1">
              <a:lnSpc>
                <a:spcPct val="150000"/>
              </a:lnSpc>
              <a:spcAft>
                <a:spcPts val="1200"/>
              </a:spcAft>
              <a:defRPr sz="1800"/>
            </a:pPr>
            <a:r>
              <a:rPr lang="en-US" dirty="0"/>
              <a:t>Missing data periods may affect cluster assignments</a:t>
            </a:r>
          </a:p>
          <a:p>
            <a:pPr marL="342900" lvl="1" indent="0">
              <a:lnSpc>
                <a:spcPct val="150000"/>
              </a:lnSpc>
              <a:spcAft>
                <a:spcPts val="1200"/>
              </a:spcAft>
              <a:buNone/>
              <a:defRPr sz="1800"/>
            </a:pPr>
            <a:endParaRPr lang="en-US" dirty="0"/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  <a:defRPr sz="1800"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FAD80-7C65-2251-EDDA-5F7F4653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DF795-F9F1-743D-8254-50404FA0E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7673A-1513-D961-8CEF-765DFA587E96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690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Aft>
                <a:spcPts val="1200"/>
              </a:spcAft>
              <a:buNone/>
              <a:defRPr sz="1800"/>
            </a:pPr>
            <a:r>
              <a:rPr sz="1800" dirty="0"/>
              <a:t>This project demonstrated the application of clustering techniques to identify pollution hotspots in Bangalore using CPCB air quality data.</a:t>
            </a:r>
          </a:p>
          <a:p>
            <a:pPr marL="0" indent="0">
              <a:spcAft>
                <a:spcPts val="1200"/>
              </a:spcAft>
              <a:buNone/>
              <a:defRPr sz="1800"/>
            </a:pPr>
            <a:r>
              <a:rPr sz="1800" b="1" dirty="0"/>
              <a:t>Key Achievements:</a:t>
            </a:r>
          </a:p>
          <a:p>
            <a:pPr lvl="1">
              <a:spcAft>
                <a:spcPts val="1200"/>
              </a:spcAft>
              <a:defRPr sz="1800"/>
            </a:pPr>
            <a:r>
              <a:rPr dirty="0"/>
              <a:t>Implemented and compared three clustering algorithms</a:t>
            </a:r>
            <a:endParaRPr lang="en-GB" dirty="0"/>
          </a:p>
          <a:p>
            <a:pPr lvl="1">
              <a:spcAft>
                <a:spcPts val="1200"/>
              </a:spcAft>
              <a:defRPr sz="1800"/>
            </a:pPr>
            <a:r>
              <a:rPr dirty="0"/>
              <a:t>Successfully normalized multi-pollutant sensor data</a:t>
            </a:r>
            <a:endParaRPr lang="en-GB" dirty="0"/>
          </a:p>
          <a:p>
            <a:pPr lvl="1">
              <a:spcAft>
                <a:spcPts val="1200"/>
              </a:spcAft>
              <a:defRPr sz="1800"/>
            </a:pPr>
            <a:r>
              <a:rPr dirty="0"/>
              <a:t>Identified distinct pollution zones across Bangalore</a:t>
            </a:r>
            <a:endParaRPr lang="en-GB" dirty="0"/>
          </a:p>
          <a:p>
            <a:pPr lvl="1">
              <a:spcAft>
                <a:spcPts val="1200"/>
              </a:spcAft>
              <a:defRPr sz="1800"/>
            </a:pPr>
            <a:r>
              <a:rPr dirty="0"/>
              <a:t>Provided spatial visualization of air quality patterns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49347-2947-1FAF-235D-B94454C53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B0C16-7382-CAE2-F0A9-5BA19E47F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143076-85EA-E274-E131-E189A1911B64}"/>
              </a:ext>
            </a:extLst>
          </p:cNvPr>
          <p:cNvSpPr/>
          <p:nvPr/>
        </p:nvSpPr>
        <p:spPr>
          <a:xfrm>
            <a:off x="327991" y="365126"/>
            <a:ext cx="8418444" cy="59912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543E0-CF36-3F25-F979-B5839FA63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275B82-E4E8-0E96-EBF9-C3282EB55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25ETCS115018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988</TotalTime>
  <Words>810</Words>
  <Application>Microsoft Office PowerPoint</Application>
  <PresentationFormat>On-screen Show (4:3)</PresentationFormat>
  <Paragraphs>173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Wingdings</vt:lpstr>
      <vt:lpstr>Office Theme</vt:lpstr>
      <vt:lpstr>Air Pollution Hotspots identification</vt:lpstr>
      <vt:lpstr>AIM</vt:lpstr>
      <vt:lpstr>OBJECTIVES</vt:lpstr>
      <vt:lpstr>Methodology Pipeline</vt:lpstr>
      <vt:lpstr>Dataset Overview</vt:lpstr>
      <vt:lpstr>Data Preprocessing &amp; Normalization</vt:lpstr>
      <vt:lpstr>Data Preprocessing &amp; Normalization</vt:lpstr>
      <vt:lpstr>Clustering Models Used</vt:lpstr>
      <vt:lpstr>Clustering Models Used</vt:lpstr>
      <vt:lpstr>PCA projection of Clusters</vt:lpstr>
      <vt:lpstr>DETERMINING OPTIMAL CLUSTERS</vt:lpstr>
      <vt:lpstr>DETERMINING OPTIMAL CLUSTERS</vt:lpstr>
      <vt:lpstr>DETERMINING OPTIMAL CLUSTERS</vt:lpstr>
      <vt:lpstr>MODEL PERFORMANCE COMPARISON</vt:lpstr>
      <vt:lpstr>MODEL PERFORMANCE COMPARISON</vt:lpstr>
      <vt:lpstr>Temporal Patterns</vt:lpstr>
      <vt:lpstr>Temporal Patterns (Heat map)</vt:lpstr>
      <vt:lpstr>Spatial Distribution of Clusters</vt:lpstr>
      <vt:lpstr>Key Insights &amp; Findings</vt:lpstr>
      <vt:lpstr>Key Insights &amp; Findings</vt:lpstr>
      <vt:lpstr>Limitations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Vatsal</dc:creator>
  <cp:keywords/>
  <dc:description>generated using python-pptx</dc:description>
  <cp:lastModifiedBy>Vatsal Vaghasiya</cp:lastModifiedBy>
  <cp:revision>13</cp:revision>
  <dcterms:created xsi:type="dcterms:W3CDTF">2013-01-27T09:14:16Z</dcterms:created>
  <dcterms:modified xsi:type="dcterms:W3CDTF">2026-01-20T17:33:52Z</dcterms:modified>
  <cp:category/>
</cp:coreProperties>
</file>